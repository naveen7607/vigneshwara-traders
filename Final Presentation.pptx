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097280"/>
            <a:ext cx="768096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DD4BF"/>
                </a:solidFill>
                <a:latin typeface="Arial"/>
              </a:defRPr>
            </a:pPr>
            <a:r>
              <a:t>VIGNESHWARA TRADERS PRICE TRACKER</a:t>
            </a:r>
            <a:br/>
            <a:r>
              <a:t>&amp; MATERIAL ESTIMATOR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94A3B8"/>
                </a:solidFill>
                <a:latin typeface="Arial"/>
              </a:defRPr>
            </a:pPr>
            <a:r>
              <a:t>Presented by:</a:t>
            </a:r>
            <a:br/>
            <a:r>
              <a:t>• &lt;Name of the student&gt; (Reg. No: &lt;Reg. No&gt;)</a:t>
            </a:r>
            <a:br/>
            <a:r>
              <a:t>• &lt;Name of the student&gt; (Reg. No: &lt;Reg. No&gt;)</a:t>
            </a:r>
            <a:br/>
            <a:r>
              <a:t>• &lt;Name of the student&gt; (Reg. No: &lt;Reg. No&gt;)</a:t>
            </a:r>
            <a:br/>
            <a:br/>
            <a:r>
              <a:t>Under the guidance of:</a:t>
            </a:r>
            <a:br/>
            <a:r>
              <a:t>&lt;Internship Guide name&gt; (&lt;Designation&gt;)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B82F6"/>
                </a:solidFill>
                <a:latin typeface="Arial"/>
              </a:defRPr>
            </a:pPr>
            <a:r>
              <a:t>DEPARTMENT OF COMPUTER SCIENCE AND ENGINEERING</a:t>
            </a:r>
            <a:br/>
            <a:r>
              <a:t>AURORA HIGHER EDUCATION AND RESEARCH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DD4BF"/>
                </a:solidFill>
                <a:latin typeface="Arial"/>
              </a:defRPr>
            </a:pPr>
            <a:r>
              <a:t>JOURNEY RECAP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5603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DD4B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F8FAFC"/>
                </a:solidFill>
              </a:defRPr>
            </a:pPr>
            <a:r>
              <a:t>PROBLEM IDENTIFIED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Daily material rates fluctuate rapidly due to market demands.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Manual tracking caused calculation errors and administrative bottlenecks.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Customer inquiries took hours to resolve manually.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371600"/>
            <a:ext cx="25603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1463040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DD4BF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103120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F8FAFC"/>
                </a:solidFill>
              </a:defRPr>
            </a:pPr>
            <a:r>
              <a:t>RESEARCH DONE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Analysed HTTP Polling vs WebSockets for rate updates.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Implemented secure HttpOnly cookie session management.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Investigated CORS proxied configurations.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25603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463040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DD4BF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103120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F8FAFC"/>
                </a:solidFill>
              </a:defRPr>
            </a:pPr>
            <a:r>
              <a:t>SYSTEM DESIGNED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bilingual React 19 storefront served at https://vigneshwaratraders.vercel.app/.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Node/Express 5 server securely hosted on Render.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Cloud repository: https://github.com/naveen7607/vigneshwara-traders.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DD4BF"/>
                </a:solidFill>
                <a:latin typeface="Arial"/>
              </a:defRPr>
            </a:pPr>
            <a:r>
              <a:t>FINAL SYSTEM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500">
                <a:solidFill>
                  <a:srgbClr val="2DD4BF"/>
                </a:solidFill>
              </a:defRPr>
            </a:pPr>
            <a:r>
              <a:t>DELIVERED MODULES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Localized Public Catalog: Dual language toggling (Hindi/English).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Material Estimator: Dimensions-to-quantity logic engines.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Administrative Controls: Core product price matrix updating grids.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Lead Processor: Inquiries tracking dashboard.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WhatsApp &amp; Email Engine: Instant single-click alerts.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500">
                <a:solidFill>
                  <a:srgbClr val="2DD4BF"/>
                </a:solidFill>
              </a:defRPr>
            </a:pPr>
            <a:r>
              <a:t>SCOPE CONTROLS &amp; DEPLOYMENTS</a:t>
            </a:r>
          </a:p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Descoped Feature: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</a:defRPr>
            </a:pPr>
            <a:r>
              <a:t>- Automated Government Sync Schedulers.</a:t>
            </a:r>
          </a:p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Reason: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</a:defRPr>
            </a:pPr>
            <a:r>
              <a:t>- The owner requested 100% manual pricing control to factor in regional logistics and freight volatility.</a:t>
            </a:r>
          </a:p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Live Production Links: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</a:defRPr>
            </a:pPr>
            <a:r>
              <a:t>- Website: https://vigneshwaratraders.vercel.app/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</a:defRPr>
            </a:pPr>
            <a:r>
              <a:t>- GitHub: https://github.com/naveen7607/vigneshwara-traders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DD4BF"/>
                </a:solidFill>
                <a:latin typeface="Arial"/>
              </a:defRPr>
            </a:pPr>
            <a:r>
              <a:t>STEP 1: PUBLIC PRICING STOREFRONT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User Entry Point: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Users access the application at https://vigneshwaratraders.vercel.app/.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The landing page presents a premium glassmorphic UI.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Price Tracker Cards: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Displays JSW Steel, TATA Steel, UltraTech, ACC Cement, Sand, Bricks, and Aggregate.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Struck-through styling highlights historic rates next to live pricing.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Bilingual Translations: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A toggle button instantly translates content.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Localized databases render terms in Hindi and English.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Visual Trend Charts: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• Live pricing changes are highlighted with colored icon elements: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  - Green upward charts (Hikes)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  - Red downward charts (Drops)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  - Blue horizontal indicators (Stable)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DD4BF"/>
                </a:solidFill>
                <a:latin typeface="Arial"/>
              </a:defRPr>
            </a:pPr>
            <a:r>
              <a:t>STEP 2: QUANTITY ESTIMATOR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Input Form Mechanics: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Users select a material card or load the global Estimator modal.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Inputs specify construction area dimensions (sq ft) or counts.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Instant Calculation Engine: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React calculations run locally on state changes.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Outputs cement bags, steel tons, sand cubic feet instantly.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Lead Collection Pipeline: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Clients submit estimation requests directly via form inputs.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Verifies email and phone formatting constraints.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Database Registration: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Leads are saved inside the Inquiries collection on MongoDB Atlas.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DD4BF"/>
                </a:solidFill>
                <a:latin typeface="Arial"/>
              </a:defRPr>
            </a:pPr>
            <a:r>
              <a:t>STEP 3: SECURE ADMINISTRATOR PORTAL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Protected Route Entrance: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Admin navigates to the custom dashboard route.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Encounter credentials inputs protected under Express routing rules.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Backend Authentication Handshake: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Express matches the hash values using bcryptjs.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Issues a signed JSON Web Token (JWT).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Session Persistence Rules: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The JWT is dispatched via HttpOnly secure cookies.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Restricts client-side scripting access, neutralising XSS.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Persistent session logs allow admins to manage updates without recurring logins.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DD4BF"/>
                </a:solidFill>
                <a:latin typeface="Arial"/>
              </a:defRPr>
            </a:pPr>
            <a:r>
              <a:t>STEP 4: PRICING ADJUSTMENT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Pricing Matrix Modification: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Admin edits pricing directly inside the dashboard grid.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PUT updates are sent securely with JWT authentication.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Mongoose Mutations: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Mongoose updates the database collection.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Shifts current price to the historic array database.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Trend Indicators Trigger: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The system compares the new rate with preceding indices.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• Automatically applies color coding: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  - Rate Hike: Renders upward green trend indicators.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  - Rate Drop: Renders downward red trend indicators.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  - Stable: Renders horizontal blue indicators.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DD4BF"/>
                </a:solidFill>
                <a:latin typeface="Arial"/>
              </a:defRPr>
            </a:pPr>
            <a:r>
              <a:t>STEP 5: ALERT DISPATCHER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Consolidated Alert Trigger: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Admin triggers broadcast with a single button.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Combines all price mutations into a single alert.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WhatsApp Cloud Dispatcher: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Sends notifications containing struck-through prior rates and colored graphs.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SMTP Email Delivery: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Nodemailer sends detailed newsletters to subscribers.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Real-time Browser Toasts: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Currently active visitors receive instant toast alerts.</a:t>
            </a:r>
          </a:p>
          <a:p>
            <a:pPr>
              <a:spcAft>
                <a:spcPts val="800"/>
              </a:spcAft>
              <a:defRPr sz="1200" b="0">
                <a:solidFill>
                  <a:srgbClr val="94A3B8"/>
                </a:solidFill>
              </a:defRPr>
            </a:pPr>
            <a:r>
              <a:t>• Ensures all clients are notified of changes.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DD4BF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5603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2377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b="1" sz="1400">
                <a:solidFill>
                  <a:srgbClr val="2DD4BF"/>
                </a:solidFill>
              </a:defRPr>
            </a:pPr>
            <a:r>
              <a:t>CLIENT LAYER</a:t>
            </a:r>
            <a:br/>
            <a:r>
              <a:t>(Vercel Hosting)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React 19 Client UI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Vite build system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Styled with glassmorphism CSS components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Axios query integration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Handles browser toast push notifications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5603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463040"/>
            <a:ext cx="2377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b="1" sz="1400">
                <a:solidFill>
                  <a:srgbClr val="2DD4BF"/>
                </a:solidFill>
              </a:defRPr>
            </a:pPr>
            <a:r>
              <a:t>BACKEND API LAYER</a:t>
            </a:r>
            <a:br/>
            <a:r>
              <a:t>(Render Server)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Node.js &amp; Express 5 API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JWT Authentication session validations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WhatsApp Cloud HTTP integration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Nodemailer SMTP transporter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CORS headers configurations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371600"/>
            <a:ext cx="25603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463040"/>
            <a:ext cx="2377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b="1" sz="1400">
                <a:solidFill>
                  <a:srgbClr val="2DD4BF"/>
                </a:solidFill>
              </a:defRPr>
            </a:pPr>
            <a:r>
              <a:t>DATA STORAGE LAYER</a:t>
            </a:r>
            <a:br/>
            <a:r>
              <a:t>(MongoDB Atlas)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MongoDB Cloud database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Schemas for Products, Users, and Leads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Price arrays for historical rate lookups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Inquiries record collections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Broadcast logs tracker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DD4BF"/>
                </a:solidFill>
                <a:latin typeface="Arial"/>
              </a:defRPr>
            </a:pPr>
            <a:r>
              <a:t>TECHNICAL CODE HIGHLIGHTS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2DD4BF"/>
                </a:solidFill>
              </a:defRPr>
            </a:pPr>
            <a:r>
              <a:t>EXPRESS 5 WILDCARD RESOLUTION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Express 5 wildcard routing fix: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Express 5's upgraded parser crashed with app.get('*') due to strict parameters.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Refactored into a custom middleware using app.use() to route requests correctly.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The script checks req.method === 'GET' and bypasses /api queries.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Safely serves React's compiled index.html without parsing issues.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2DD4BF"/>
                </a:solidFill>
              </a:defRPr>
            </a:pPr>
            <a:r>
              <a:t>SECURE Handshake &amp; UI TOKENS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JWT Cookie Persistent Sessions: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Encrypts cookies containing the JWT key with HTTP-only flags.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Prevents client-side scripts from reading administrative tokens.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Theme System Configuration: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Styled with clean CSS variables.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Glow elements, hover card effects, and visual graphs are optimized for smooth rendering.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DD4BF"/>
                </a:solidFill>
                <a:latin typeface="Arial"/>
              </a:defRPr>
            </a:pPr>
            <a:r>
              <a:t>DATABASE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5603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2377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b="1" sz="1300">
                <a:solidFill>
                  <a:srgbClr val="2DD4BF"/>
                </a:solidFill>
              </a:defRPr>
            </a:pPr>
            <a:r>
              <a:t>PRODUCT SCHEMAS</a:t>
            </a:r>
          </a:p>
          <a:p>
            <a:pPr>
              <a:spcAft>
                <a:spcPts val="400"/>
              </a:spcAft>
              <a:defRPr sz="1100" b="1">
                <a:solidFill>
                  <a:srgbClr val="F8FAFC"/>
                </a:solidFill>
              </a:defRPr>
            </a:pPr>
            <a:r>
              <a:t>Products Collection</a:t>
            </a:r>
          </a:p>
          <a:p>
            <a:pPr>
              <a:spcAft>
                <a:spcPts val="400"/>
              </a:spcAft>
              <a:defRPr sz="1100" b="0">
                <a:solidFill>
                  <a:srgbClr val="F8FAFC"/>
                </a:solidFill>
              </a:defRPr>
            </a:pPr>
            <a:r>
              <a:t>• name: String</a:t>
            </a:r>
          </a:p>
          <a:p>
            <a:pPr>
              <a:spcAft>
                <a:spcPts val="400"/>
              </a:spcAft>
              <a:defRPr sz="1100" b="0">
                <a:solidFill>
                  <a:srgbClr val="F8FAFC"/>
                </a:solidFill>
              </a:defRPr>
            </a:pPr>
            <a:r>
              <a:t>• category: String</a:t>
            </a:r>
          </a:p>
          <a:p>
            <a:pPr>
              <a:spcAft>
                <a:spcPts val="400"/>
              </a:spcAft>
              <a:defRPr sz="1100" b="0">
                <a:solidFill>
                  <a:srgbClr val="F8FAFC"/>
                </a:solidFill>
              </a:defRPr>
            </a:pPr>
            <a:r>
              <a:t>• currentPrice: Number</a:t>
            </a:r>
          </a:p>
          <a:p>
            <a:pPr>
              <a:spcAft>
                <a:spcPts val="400"/>
              </a:spcAft>
              <a:defRPr sz="1100" b="0">
                <a:solidFill>
                  <a:srgbClr val="F8FAFC"/>
                </a:solidFill>
              </a:defRPr>
            </a:pPr>
            <a:r>
              <a:t>• priceHistory: Array</a:t>
            </a:r>
          </a:p>
          <a:p>
            <a:pPr>
              <a:spcAft>
                <a:spcPts val="400"/>
              </a:spcAft>
              <a:defRPr sz="1100" b="0">
                <a:solidFill>
                  <a:srgbClr val="F8FAFC"/>
                </a:solidFill>
              </a:defRPr>
            </a:pPr>
            <a:r>
              <a:t>• lastUpdated: Date</a:t>
            </a:r>
          </a:p>
          <a:p>
            <a:pPr>
              <a:spcAft>
                <a:spcPts val="400"/>
              </a:spcAft>
              <a:defRPr sz="1100" b="1">
                <a:solidFill>
                  <a:srgbClr val="94A3B8"/>
                </a:solidFill>
              </a:defRPr>
            </a:pPr>
            <a:r>
              <a:t>Design Decision:</a:t>
            </a:r>
          </a:p>
          <a:p>
            <a:pPr>
              <a:spcAft>
                <a:spcPts val="400"/>
              </a:spcAft>
              <a:defRPr sz="1100" b="0">
                <a:solidFill>
                  <a:srgbClr val="94A3B8"/>
                </a:solidFill>
              </a:defRPr>
            </a:pPr>
            <a:r>
              <a:t>Logging historic rates inside an array allows historical struck-through representations.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5603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463040"/>
            <a:ext cx="2377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b="1" sz="1300">
                <a:solidFill>
                  <a:srgbClr val="2DD4BF"/>
                </a:solidFill>
              </a:defRPr>
            </a:pPr>
            <a:r>
              <a:t>CLIENT LEADS &amp; ACCTS</a:t>
            </a:r>
          </a:p>
          <a:p>
            <a:pPr>
              <a:spcAft>
                <a:spcPts val="400"/>
              </a:spcAft>
              <a:defRPr sz="1100" b="1">
                <a:solidFill>
                  <a:srgbClr val="F8FAFC"/>
                </a:solidFill>
              </a:defRPr>
            </a:pPr>
            <a:r>
              <a:t>Inquiries Collection</a:t>
            </a:r>
          </a:p>
          <a:p>
            <a:pPr>
              <a:spcAft>
                <a:spcPts val="400"/>
              </a:spcAft>
              <a:defRPr sz="1100" b="0">
                <a:solidFill>
                  <a:srgbClr val="F8FAFC"/>
                </a:solidFill>
              </a:defRPr>
            </a:pPr>
            <a:r>
              <a:t>• clientName: String</a:t>
            </a:r>
          </a:p>
          <a:p>
            <a:pPr>
              <a:spcAft>
                <a:spcPts val="400"/>
              </a:spcAft>
              <a:defRPr sz="1100" b="0">
                <a:solidFill>
                  <a:srgbClr val="F8FAFC"/>
                </a:solidFill>
              </a:defRPr>
            </a:pPr>
            <a:r>
              <a:t>• phone: String</a:t>
            </a:r>
          </a:p>
          <a:p>
            <a:pPr>
              <a:spcAft>
                <a:spcPts val="400"/>
              </a:spcAft>
              <a:defRPr sz="1100" b="0">
                <a:solidFill>
                  <a:srgbClr val="F8FAFC"/>
                </a:solidFill>
              </a:defRPr>
            </a:pPr>
            <a:r>
              <a:t>• email: String</a:t>
            </a:r>
          </a:p>
          <a:p>
            <a:pPr>
              <a:spcAft>
                <a:spcPts val="400"/>
              </a:spcAft>
              <a:defRPr sz="1100" b="0">
                <a:solidFill>
                  <a:srgbClr val="F8FAFC"/>
                </a:solidFill>
              </a:defRPr>
            </a:pPr>
            <a:r>
              <a:t>• message: String</a:t>
            </a:r>
          </a:p>
          <a:p>
            <a:pPr>
              <a:spcAft>
                <a:spcPts val="400"/>
              </a:spcAft>
              <a:defRPr sz="1100" b="0">
                <a:solidFill>
                  <a:srgbClr val="F8FAFC"/>
                </a:solidFill>
              </a:defRPr>
            </a:pPr>
            <a:r>
              <a:t>• estimatedQuantity: Number</a:t>
            </a:r>
          </a:p>
          <a:p>
            <a:pPr>
              <a:spcAft>
                <a:spcPts val="400"/>
              </a:spcAft>
              <a:defRPr sz="1100" b="1">
                <a:solidFill>
                  <a:srgbClr val="F8FAFC"/>
                </a:solidFill>
              </a:defRPr>
            </a:pPr>
            <a:r>
              <a:t>Users Collection</a:t>
            </a:r>
          </a:p>
          <a:p>
            <a:pPr>
              <a:spcAft>
                <a:spcPts val="400"/>
              </a:spcAft>
              <a:defRPr sz="1100" b="0">
                <a:solidFill>
                  <a:srgbClr val="F8FAFC"/>
                </a:solidFill>
              </a:defRPr>
            </a:pPr>
            <a:r>
              <a:t>• username: String</a:t>
            </a:r>
          </a:p>
          <a:p>
            <a:pPr>
              <a:spcAft>
                <a:spcPts val="400"/>
              </a:spcAft>
              <a:defRPr sz="1100" b="0">
                <a:solidFill>
                  <a:srgbClr val="F8FAFC"/>
                </a:solidFill>
              </a:defRPr>
            </a:pPr>
            <a:r>
              <a:t>• password (bcrypt hashed)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371600"/>
            <a:ext cx="25603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463040"/>
            <a:ext cx="2377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b="1" sz="1300">
                <a:solidFill>
                  <a:srgbClr val="2DD4BF"/>
                </a:solidFill>
              </a:defRPr>
            </a:pPr>
            <a:r>
              <a:t>SUBSCRIBERS &amp; LOGS</a:t>
            </a:r>
          </a:p>
          <a:p>
            <a:pPr>
              <a:spcAft>
                <a:spcPts val="400"/>
              </a:spcAft>
              <a:defRPr sz="1100" b="1">
                <a:solidFill>
                  <a:srgbClr val="F8FAFC"/>
                </a:solidFill>
              </a:defRPr>
            </a:pPr>
            <a:r>
              <a:t>Subscribers Collection</a:t>
            </a:r>
          </a:p>
          <a:p>
            <a:pPr>
              <a:spcAft>
                <a:spcPts val="400"/>
              </a:spcAft>
              <a:defRPr sz="1100" b="0">
                <a:solidFill>
                  <a:srgbClr val="F8FAFC"/>
                </a:solidFill>
              </a:defRPr>
            </a:pPr>
            <a:r>
              <a:t>• phone: String</a:t>
            </a:r>
          </a:p>
          <a:p>
            <a:pPr>
              <a:spcAft>
                <a:spcPts val="400"/>
              </a:spcAft>
              <a:defRPr sz="1100" b="0">
                <a:solidFill>
                  <a:srgbClr val="F8FAFC"/>
                </a:solidFill>
              </a:defRPr>
            </a:pPr>
            <a:r>
              <a:t>• email: String</a:t>
            </a:r>
          </a:p>
          <a:p>
            <a:pPr>
              <a:spcAft>
                <a:spcPts val="400"/>
              </a:spcAft>
              <a:defRPr sz="1100" b="0">
                <a:solidFill>
                  <a:srgbClr val="F8FAFC"/>
                </a:solidFill>
              </a:defRPr>
            </a:pPr>
            <a:r>
              <a:t>• isWhatsAppSubed: Boolean</a:t>
            </a:r>
          </a:p>
          <a:p>
            <a:pPr>
              <a:spcAft>
                <a:spcPts val="400"/>
              </a:spcAft>
              <a:defRPr sz="1100" b="0">
                <a:solidFill>
                  <a:srgbClr val="F8FAFC"/>
                </a:solidFill>
              </a:defRPr>
            </a:pPr>
            <a:r>
              <a:t>• isEmailSubed: Boolean</a:t>
            </a:r>
          </a:p>
          <a:p>
            <a:pPr>
              <a:spcAft>
                <a:spcPts val="400"/>
              </a:spcAft>
              <a:defRPr sz="1100" b="0">
                <a:solidFill>
                  <a:srgbClr val="94A3B8"/>
                </a:solidFill>
              </a:defRPr>
            </a:pPr>
            <a:r>
              <a:t>BroadcastLogs</a:t>
            </a:r>
          </a:p>
          <a:p>
            <a:pPr>
              <a:spcAft>
                <a:spcPts val="400"/>
              </a:spcAft>
              <a:defRPr sz="1100" b="0">
                <a:solidFill>
                  <a:srgbClr val="F8FAFC"/>
                </a:solidFill>
              </a:defRPr>
            </a:pPr>
            <a:r>
              <a:t>• messageContent: String</a:t>
            </a:r>
          </a:p>
          <a:p>
            <a:pPr>
              <a:spcAft>
                <a:spcPts val="400"/>
              </a:spcAft>
              <a:defRPr sz="1100" b="0">
                <a:solidFill>
                  <a:srgbClr val="F8FAFC"/>
                </a:solidFill>
              </a:defRPr>
            </a:pPr>
            <a:r>
              <a:t>• recipientsCount: Number</a:t>
            </a:r>
          </a:p>
          <a:p>
            <a:pPr>
              <a:spcAft>
                <a:spcPts val="400"/>
              </a:spcAft>
              <a:defRPr sz="1100" b="0">
                <a:solidFill>
                  <a:srgbClr val="F8FAFC"/>
                </a:solidFill>
              </a:defRPr>
            </a:pPr>
            <a:r>
              <a:t>• status: String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DD4BF"/>
                </a:solidFill>
                <a:latin typeface="Arial"/>
              </a:defRPr>
            </a:pPr>
            <a:r>
              <a:t>CHALLENGES &amp; SOLUTIONS - PART 1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2DD4BF"/>
                </a:solidFill>
              </a:defRPr>
            </a:pPr>
            <a:r>
              <a:t>1. EXPRESS 5 WILDCARD CRASH</a:t>
            </a:r>
          </a:p>
          <a:p>
            <a:pPr>
              <a:spcAft>
                <a:spcPts val="400"/>
              </a:spcAft>
              <a:defRPr sz="1200" b="1">
                <a:solidFill>
                  <a:srgbClr val="F8FAFC"/>
                </a:solidFill>
              </a:defRPr>
            </a:pPr>
            <a:r>
              <a:t>Problem: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</a:defRPr>
            </a:pPr>
            <a:r>
              <a:t>• Node server crashed with 'PathError: Missing parameter name' during Express 5 setup.</a:t>
            </a:r>
          </a:p>
          <a:p>
            <a:pPr>
              <a:spcAft>
                <a:spcPts val="400"/>
              </a:spcAft>
              <a:defRPr sz="1200" b="1">
                <a:solidFill>
                  <a:srgbClr val="F8FAFC"/>
                </a:solidFill>
              </a:defRPr>
            </a:pPr>
            <a:r>
              <a:t>What we tried first: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</a:defRPr>
            </a:pPr>
            <a:r>
              <a:t>• Tried escaping wildcard values.</a:t>
            </a:r>
          </a:p>
          <a:p>
            <a:pPr>
              <a:spcAft>
                <a:spcPts val="400"/>
              </a:spcAft>
              <a:defRPr sz="1200" b="1">
                <a:solidFill>
                  <a:srgbClr val="F8FAFC"/>
                </a:solidFill>
              </a:defRPr>
            </a:pPr>
            <a:r>
              <a:t>Why it failed: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</a:defRPr>
            </a:pPr>
            <a:r>
              <a:t>• Express 5 uses path-to-regexp v8 which dropped un-named wildcard.</a:t>
            </a:r>
          </a:p>
          <a:p>
            <a:pPr>
              <a:spcAft>
                <a:spcPts val="400"/>
              </a:spcAft>
              <a:defRPr sz="1200" b="1">
                <a:solidFill>
                  <a:srgbClr val="F8FAFC"/>
                </a:solidFill>
              </a:defRPr>
            </a:pPr>
            <a:r>
              <a:t>Resolution: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</a:defRPr>
            </a:pPr>
            <a:r>
              <a:t>• Refactored to custom app.use() middleware to serve index.html.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2DD4BF"/>
                </a:solidFill>
              </a:defRPr>
            </a:pPr>
            <a:r>
              <a:t>2. ADMIN SESSION EXPIRY</a:t>
            </a:r>
          </a:p>
          <a:p>
            <a:pPr>
              <a:spcAft>
                <a:spcPts val="400"/>
              </a:spcAft>
              <a:defRPr sz="1200" b="1">
                <a:solidFill>
                  <a:srgbClr val="F8FAFC"/>
                </a:solidFill>
              </a:defRPr>
            </a:pPr>
            <a:r>
              <a:t>Problem: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</a:defRPr>
            </a:pPr>
            <a:r>
              <a:t>• Administrative dashboard data loading was frequently interrupted.</a:t>
            </a:r>
          </a:p>
          <a:p>
            <a:pPr>
              <a:spcAft>
                <a:spcPts val="400"/>
              </a:spcAft>
              <a:defRPr sz="1200" b="1">
                <a:solidFill>
                  <a:srgbClr val="F8FAFC"/>
                </a:solidFill>
              </a:defRPr>
            </a:pPr>
            <a:r>
              <a:t>What we tried first: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</a:defRPr>
            </a:pPr>
            <a:r>
              <a:t>• Stored session tokens inside client localStorage.</a:t>
            </a:r>
          </a:p>
          <a:p>
            <a:pPr>
              <a:spcAft>
                <a:spcPts val="400"/>
              </a:spcAft>
              <a:defRPr sz="1200" b="1">
                <a:solidFill>
                  <a:srgbClr val="F8FAFC"/>
                </a:solidFill>
              </a:defRPr>
            </a:pPr>
            <a:r>
              <a:t>Why it failed: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</a:defRPr>
            </a:pPr>
            <a:r>
              <a:t>• localStorage is vulnerable to XSS and clears on window closes.</a:t>
            </a:r>
          </a:p>
          <a:p>
            <a:pPr>
              <a:spcAft>
                <a:spcPts val="400"/>
              </a:spcAft>
              <a:defRPr sz="1200" b="1">
                <a:solidFill>
                  <a:srgbClr val="F8FAFC"/>
                </a:solidFill>
              </a:defRPr>
            </a:pPr>
            <a:r>
              <a:t>Resolution: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</a:defRPr>
            </a:pPr>
            <a:r>
              <a:t>• Configured secure httpOnly JWT cookies with long persistence.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DD4BF"/>
                </a:solidFill>
                <a:latin typeface="Arial"/>
              </a:defRPr>
            </a:pPr>
            <a:r>
              <a:t>CHALLENGES &amp; SOLUTIONS - PART 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2DD4BF"/>
                </a:solidFill>
              </a:defRPr>
            </a:pPr>
            <a:r>
              <a:t>3. VERCEL DEPLOYMENT BLOCKED</a:t>
            </a:r>
          </a:p>
          <a:p>
            <a:pPr>
              <a:spcAft>
                <a:spcPts val="400"/>
              </a:spcAft>
              <a:defRPr sz="1200" b="1">
                <a:solidFill>
                  <a:srgbClr val="F8FAFC"/>
                </a:solidFill>
              </a:defRPr>
            </a:pPr>
            <a:r>
              <a:t>Problem: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</a:defRPr>
            </a:pPr>
            <a:r>
              <a:t>• Vercel builds failed due to npm ERESOLVE peer conflicts.</a:t>
            </a:r>
          </a:p>
          <a:p>
            <a:pPr>
              <a:spcAft>
                <a:spcPts val="400"/>
              </a:spcAft>
              <a:defRPr sz="1200" b="1">
                <a:solidFill>
                  <a:srgbClr val="F8FAFC"/>
                </a:solidFill>
              </a:defRPr>
            </a:pPr>
            <a:r>
              <a:t>What we tried first: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</a:defRPr>
            </a:pPr>
            <a:r>
              <a:t>• Ran builds using local scripts with --legacy-peer-deps.</a:t>
            </a:r>
          </a:p>
          <a:p>
            <a:pPr>
              <a:spcAft>
                <a:spcPts val="400"/>
              </a:spcAft>
              <a:defRPr sz="1200" b="1">
                <a:solidFill>
                  <a:srgbClr val="F8FAFC"/>
                </a:solidFill>
              </a:defRPr>
            </a:pPr>
            <a:r>
              <a:t>Why it failed: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</a:defRPr>
            </a:pPr>
            <a:r>
              <a:t>• Vercel's builder uses npm ci, which ignores script flags.</a:t>
            </a:r>
          </a:p>
          <a:p>
            <a:pPr>
              <a:spcAft>
                <a:spcPts val="400"/>
              </a:spcAft>
              <a:defRPr sz="1200" b="1">
                <a:solidFill>
                  <a:srgbClr val="F8FAFC"/>
                </a:solidFill>
              </a:defRPr>
            </a:pPr>
            <a:r>
              <a:t>Resolution: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</a:defRPr>
            </a:pPr>
            <a:r>
              <a:t>• Added .npmrc rules to client, and upgraded lucide-react.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2DD4BF"/>
                </a:solidFill>
              </a:defRPr>
            </a:pPr>
            <a:r>
              <a:t>4. GIT REMOTE RE-ALIGNMENT</a:t>
            </a:r>
          </a:p>
          <a:p>
            <a:pPr>
              <a:spcAft>
                <a:spcPts val="400"/>
              </a:spcAft>
              <a:defRPr sz="1200" b="1">
                <a:solidFill>
                  <a:srgbClr val="F8FAFC"/>
                </a:solidFill>
              </a:defRPr>
            </a:pPr>
            <a:r>
              <a:t>Problem: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</a:defRPr>
            </a:pPr>
            <a:r>
              <a:t>• The remote URL changed, causing git conflicts.</a:t>
            </a:r>
          </a:p>
          <a:p>
            <a:pPr>
              <a:spcAft>
                <a:spcPts val="400"/>
              </a:spcAft>
              <a:defRPr sz="1200" b="1">
                <a:solidFill>
                  <a:srgbClr val="F8FAFC"/>
                </a:solidFill>
              </a:defRPr>
            </a:pPr>
            <a:r>
              <a:t>What we tried first: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</a:defRPr>
            </a:pPr>
            <a:r>
              <a:t>• Tried pulling updates directly from main branch.</a:t>
            </a:r>
          </a:p>
          <a:p>
            <a:pPr>
              <a:spcAft>
                <a:spcPts val="400"/>
              </a:spcAft>
              <a:defRPr sz="1200" b="1">
                <a:solidFill>
                  <a:srgbClr val="F8FAFC"/>
                </a:solidFill>
              </a:defRPr>
            </a:pPr>
            <a:r>
              <a:t>Why it failed: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</a:defRPr>
            </a:pPr>
            <a:r>
              <a:t>• Divergent histories threw unresolved conflicts.</a:t>
            </a:r>
          </a:p>
          <a:p>
            <a:pPr>
              <a:spcAft>
                <a:spcPts val="400"/>
              </a:spcAft>
              <a:defRPr sz="1200" b="1">
                <a:solidFill>
                  <a:srgbClr val="F8FAFC"/>
                </a:solidFill>
              </a:defRPr>
            </a:pPr>
            <a:r>
              <a:t>Resolution: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</a:defRPr>
            </a:pPr>
            <a:r>
              <a:t>• Reset remote URLs, aligned branches, and force-pushed.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DD4BF"/>
                </a:solidFill>
                <a:latin typeface="Arial"/>
              </a:defRPr>
            </a:pPr>
            <a:r>
              <a:t>TESTING &amp; VALIDATION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2DD4BF"/>
                </a:solidFill>
              </a:defRPr>
            </a:pPr>
            <a:r>
              <a:t>VERIFICATION METHODS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REST API: Postman test suite to verify JWT authentication endpoint returns.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Production builds: Vite compiler ran checks to ensure zero warnings.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UI validation: Manual layout checks verified responsive alignments.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146304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400">
                <a:solidFill>
                  <a:srgbClr val="2DD4BF"/>
                </a:solidFill>
              </a:defRPr>
            </a:pPr>
            <a:r>
              <a:t>RESOLVED BUGS LOG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• Axios credentials bug: Login checks failed on page reloads.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  - Resolution: Added withCredentials=true to pass secure HTTP-only cookies.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• Alert trend bug: New price hikes rendered downward trends.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  - Resolution: Corrected conditional statements evaluating currentPrice against priceHistory arrays.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• Node path error: Wildcard routings crashed on Express 5.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  - Resolution: Custom app.use() middleware to route request endpoints.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DD4BF"/>
                </a:solidFill>
                <a:latin typeface="Arial"/>
              </a:defRPr>
            </a:pPr>
            <a:r>
              <a:t>LEARNINGS, LIMITATIONS &amp; FUTURE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5603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2377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b="1" sz="1400">
                <a:solidFill>
                  <a:srgbClr val="2DD4BF"/>
                </a:solidFill>
              </a:defRPr>
            </a:pPr>
            <a:r>
              <a:t>LEARNINGS</a:t>
            </a:r>
          </a:p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Technical Growth:</a:t>
            </a:r>
          </a:p>
          <a:p>
            <a:pPr>
              <a:spcAft>
                <a:spcPts val="600"/>
              </a:spcAft>
              <a:defRPr sz="1200" b="0">
                <a:solidFill>
                  <a:srgbClr val="F8FAFC"/>
                </a:solidFill>
              </a:defRPr>
            </a:pPr>
            <a:r>
              <a:t>• Mastered decoupled monorepos.</a:t>
            </a:r>
          </a:p>
          <a:p>
            <a:pPr>
              <a:spcAft>
                <a:spcPts val="600"/>
              </a:spcAft>
              <a:defRPr sz="1200" b="0">
                <a:solidFill>
                  <a:srgbClr val="F8FAFC"/>
                </a:solidFill>
              </a:defRPr>
            </a:pPr>
            <a:r>
              <a:t>• Managed updates in Express 5 and React 19.</a:t>
            </a:r>
          </a:p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Professional growth:</a:t>
            </a:r>
          </a:p>
          <a:p>
            <a:pPr>
              <a:spcAft>
                <a:spcPts val="600"/>
              </a:spcAft>
              <a:defRPr sz="1200" b="0">
                <a:solidFill>
                  <a:srgbClr val="F8FAFC"/>
                </a:solidFill>
              </a:defRPr>
            </a:pPr>
            <a:r>
              <a:t>• Learned to balance customer priorities, such as manual control overrides.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5603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463040"/>
            <a:ext cx="2377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b="1" sz="1400">
                <a:solidFill>
                  <a:srgbClr val="2DD4BF"/>
                </a:solidFill>
              </a:defRPr>
            </a:pPr>
            <a:r>
              <a:t>LIMITATIONS</a:t>
            </a:r>
          </a:p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System Boundaries:</a:t>
            </a:r>
          </a:p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• Ephemeral filesystem: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</a:defRPr>
            </a:pPr>
            <a:r>
              <a:t>  - Render's instance resets clear local image files on restarts.</a:t>
            </a:r>
          </a:p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• Trigger controls: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</a:defRPr>
            </a:pPr>
            <a:r>
              <a:t>  - WhatsApp alerts require manual administrator activations.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371600"/>
            <a:ext cx="25603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463040"/>
            <a:ext cx="2377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b="1" sz="1400">
                <a:solidFill>
                  <a:srgbClr val="2DD4BF"/>
                </a:solidFill>
              </a:defRPr>
            </a:pPr>
            <a:r>
              <a:t>FUTURE SCOPE</a:t>
            </a:r>
          </a:p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Roadmap Upgrades:</a:t>
            </a:r>
          </a:p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• Cloud Media Integration: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</a:defRPr>
            </a:pPr>
            <a:r>
              <a:t>  - Connect S3 or Cloudinary APIs for product uploads.</a:t>
            </a:r>
          </a:p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• Data Visualizations:</a:t>
            </a:r>
          </a:p>
          <a:p>
            <a:pPr>
              <a:spcAft>
                <a:spcPts val="600"/>
              </a:spcAft>
              <a:defRPr sz="1200" b="0">
                <a:solidFill>
                  <a:srgbClr val="94A3B8"/>
                </a:solidFill>
              </a:defRPr>
            </a:pPr>
            <a:r>
              <a:t>  - Integrate Chart.js/Recharts to display rate timelines.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097280"/>
            <a:ext cx="768096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DD4BF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F8FAFC"/>
                </a:solidFill>
                <a:latin typeface="Arial"/>
              </a:defRPr>
            </a:pPr>
            <a:r>
              <a:t>Questions &amp; Answers Session</a:t>
            </a:r>
            <a:br/>
            <a:br/>
            <a:r>
              <a:t>Full-Stack MERN Platform for Vigneshwara Traders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3B82F6"/>
                </a:solidFill>
                <a:latin typeface="Arial"/>
              </a:defRPr>
            </a:pPr>
            <a:r>
              <a:t>Live Deployed Portal: https://vigneshwaratraders.vercel.app/</a:t>
            </a:r>
            <a:br/>
            <a:r>
              <a:t>Source Code: https://github.com/naveen7607/vigneshwara-traders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